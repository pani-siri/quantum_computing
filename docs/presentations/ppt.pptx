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61" r:id="rId5"/>
    <p:sldId id="262" r:id="rId6"/>
    <p:sldId id="268" r:id="rId8"/>
    <p:sldId id="266" r:id="rId9"/>
    <p:sldId id="293" r:id="rId10"/>
    <p:sldId id="294" r:id="rId11"/>
    <p:sldId id="285" r:id="rId12"/>
    <p:sldId id="286" r:id="rId13"/>
    <p:sldId id="291" r:id="rId14"/>
    <p:sldId id="297" r:id="rId15"/>
    <p:sldId id="295" r:id="rId16"/>
    <p:sldId id="296" r:id="rId17"/>
    <p:sldId id="272" r:id="rId18"/>
    <p:sldId id="271" r:id="rId19"/>
    <p:sldId id="275" r:id="rId20"/>
    <p:sldId id="273" r:id="rId21"/>
    <p:sldId id="279" r:id="rId22"/>
    <p:sldId id="278" r:id="rId23"/>
    <p:sldId id="277" r:id="rId24"/>
    <p:sldId id="276" r:id="rId25"/>
    <p:sldId id="274" r:id="rId26"/>
    <p:sldId id="280" r:id="rId27"/>
    <p:sldId id="283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4FA6FF-61EE-4EF4-AA9D-2F8BF0053A71}">
          <p14:sldIdLst>
            <p14:sldId id="256"/>
            <p14:sldId id="261"/>
            <p14:sldId id="262"/>
            <p14:sldId id="268"/>
            <p14:sldId id="266"/>
            <p14:sldId id="293"/>
            <p14:sldId id="294"/>
            <p14:sldId id="285"/>
            <p14:sldId id="286"/>
            <p14:sldId id="291"/>
            <p14:sldId id="297"/>
            <p14:sldId id="295"/>
            <p14:sldId id="296"/>
            <p14:sldId id="272"/>
            <p14:sldId id="271"/>
            <p14:sldId id="275"/>
            <p14:sldId id="273"/>
            <p14:sldId id="279"/>
            <p14:sldId id="278"/>
            <p14:sldId id="277"/>
            <p14:sldId id="276"/>
            <p14:sldId id="274"/>
            <p14:sldId id="280"/>
            <p14:sldId id="28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51" autoAdjust="0"/>
  </p:normalViewPr>
  <p:slideViewPr>
    <p:cSldViewPr snapToGrid="0" showGuides="1">
      <p:cViewPr>
        <p:scale>
          <a:sx n="93" d="100"/>
          <a:sy n="93" d="100"/>
        </p:scale>
        <p:origin x="701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53877-EE88-4DAC-B93E-5FA7CE587E80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BF423-5F21-47B6-BEDF-798D05FE8DD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54923-DF6B-4C26-AF62-67B729080E7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2C31C-3C18-4805-A54B-8D47535AEF7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0" name="Picture 39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" t="13616" r="5165" b="3740"/>
          <a:stretch>
            <a:fillRect/>
          </a:stretch>
        </p:blipFill>
        <p:spPr bwMode="auto">
          <a:xfrm>
            <a:off x="4988560" y="2640983"/>
            <a:ext cx="2017548" cy="1571636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85800" y="514095"/>
            <a:ext cx="11027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Scheduler: A Multimodal Approach Using Deep Generative Models and Quantum Optimization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93497" y="1490872"/>
            <a:ext cx="7992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 C2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P.V.S. Lakshmi Jagadamba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Head of the department, Department of CSE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5799" y="4279882"/>
            <a:ext cx="10808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Veera Kalyani Hema Tayaru Padala (322103210169)                        Teegireddy Sujitha (322103210158)                                                          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Relli Gopikanjali (322103210132)                                                        Pani Siri (322103210182)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Department of Computer Science and Engineering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GAYATRI VIDYA PARISHAD COLLEGE OF ENGINEERING FOR WOMEN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39780" y="1417256"/>
            <a:ext cx="111121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platforms face challenges in adapting dynamically to student behaviors, integrating multimodal resources, and managing study schedules alongside academic deadlines. This project proposes a Personalized Learning Path Scheduler to address these limitations. The learning module generates adaptive study roadmaps using Transformer-based generative models with adversarial training and delivers multimodal content including text, videos, and quizzes. To enhance personalization, a Quantum Kernel Support Vector Machine (QSVM) is employed for cognitive load detection, enabling improved classification of mastery and struggling states in high-dimensional learning data. The planner module integrates Natural Language Processing (NLP) pipelines to automatically extract tasks and deadlines. It employs Constraint Programming Satisfiability (CP-SAT) solvers for large-scale scheduling while selectively applies the Quantum Approximate Optimization Algorithm (QAOA) for small-scale optimization problems where quantum simulators can demonstrate efficiency within hardware constraints. A multi-agent architecture coordinates subject-specific learning agents and a planner agent to provide holistic personalization, adaptive learning, and conflict-free scheduling. This work establishes a practical yet forward-looking framework that unites classical efficiency with quantum innovation, paving the way for the next generation of adaptive and intelligent education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learning, multimodal Artificial Intelligence (AI), cognitive load detection, Quantum Kernel Support Vector Machine (QSVM), Constraint Programming Satisfiability (CP-SAT) solver, Quantum Approximate Optimization Algorithm (QAOA), multi-agent systems, higher education.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9903" y="792242"/>
            <a:ext cx="932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ABSTRACT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738033" y="473221"/>
            <a:ext cx="8715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INTRODUCTION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8457" y="1152960"/>
            <a:ext cx="1060890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Revolutionizing Learning &amp; Planning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AI-powered hybrid framework designed to personalize study paths and optimize schedules.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Overcomes limitations of traditional learning platforms by adapting to student behavior and balancing study with deadlines.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&amp; Transformers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Creates adaptive study roadmaps, personalized modules, and multimodal learning resources.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Quantum-Enhanced Learning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Uses Quantum Kernel Support Vector Machine(QSVM) for accurate cognitive load detection, distinguishing mastery from struggling states.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classical Constraint Programming Satisfiability (CP-SAT) solver for large-scale tasks with Quantum Approximate Optimization Algorithm (QAOA) for small-scale scheduling optimization.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Coordination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Learning agents and a planner agent collaborate to ensure holistic personalization and conflict-free study plans.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dashboards on coverage, weak areas, quiz accuracy, and time management for continuous improvement.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Tech Integration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Flutter for frontend,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backend, and PostgreSQL/Firebase for data storage using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frameworks, quantum simulators (Qiskit/PennyLane), and scalable open-source datasets Open University Learning Analytics Dataset (OULAD) and Project Scheduling Problem Library (PSPLIB).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787610" y="5428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52400" y="715181"/>
          <a:ext cx="11783933" cy="6045273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054731"/>
                <a:gridCol w="2475979"/>
                <a:gridCol w="1630266"/>
                <a:gridCol w="1558942"/>
                <a:gridCol w="1558940"/>
                <a:gridCol w="1558942"/>
                <a:gridCol w="1946133"/>
              </a:tblGrid>
              <a:tr h="7829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S. No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Title &amp; Authors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Published Journal and Year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600" b="1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33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Adaptive Learning Systems using Transformers — Changzhi Sun, Shijie Huang, Banghui Sun, Shiwei Chu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EEE Transactions on Learning Technologies, IEEE, 2022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Educational interaction logs, student activity datasets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Cognitive graph–based path planning and recommendation system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generative modeling and adversarial training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across diverse populations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83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State Recognition with Quantum Machine Learning — Kavitha S.S., Kaulgud N.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de-DE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Quantum Machine Intelligence, Springer, 2021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Simulated cognitive signals and open EEG datasets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Machine learning algorithms for optimization of recommendation systems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Quantum kernel methods (QSVM)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scalability; dependent on simulators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33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Tutoring Systems with Multi-Agent Models — Peng H., Ma S., Spector J.M.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Transactions on Intelligent Systems and Technology, ACM, 2020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assessment and task datasets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Multimodal ML models to analyze distraction and peer influence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coordination with reinforcement learning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computational resources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7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Quantum Annealing Heuristic Method for Solving Job Shop Scheduling Problem — Krzysztof Kurowski, Jan Węglárz, Mateusz Subocz, Rafał Różycki, Grzegorz Waligóra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Science – ICCS 2020, Springer, 2020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FT06 benchmark dataset, tested on D-Wave 2000Q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AI-driven approaches for building personalized learning pathways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quantum annealing combined with classical heuristics for JSSP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scalability; NISQ hardware restrictions; performance degrades with larger problem sizes</a:t>
                      </a:r>
                      <a:r>
                        <a:rPr lang="en-IN" sz="14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Lacks multimodal robustness and advanced optimization</a:t>
                      </a:r>
                      <a:endParaRPr lang="en-IN" sz="1400" b="0" i="0" kern="100" dirty="0">
                        <a:effectLst/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19076" y="155775"/>
            <a:ext cx="10752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37" y="441250"/>
            <a:ext cx="906162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92480" y="894080"/>
            <a:ext cx="11170285" cy="5768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Management Systems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Examples: Moodle, Blackboard, Canvas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 management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submission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Static and linear content delivery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 learning paths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Minimal personalization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AI or quantum optimization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AI-Powered Learning Platforms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Examples: Duolingo, Khan Academy, Coursera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Basic adaptive learning paths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Progress tracking and quizzes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Limited personalization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real-time cognitive load detection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optimized scheduling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quantum computing integration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10" y="137795"/>
            <a:ext cx="906145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9475" y="590550"/>
            <a:ext cx="11115675" cy="607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in Education (Emerging)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Mostly research-based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deployment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Focus Areas: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and scheduling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IBM Quantum Education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D-Wave research initiatives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classroom-level applications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Not integrated with learning platforms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Task Management &amp; Planning Tools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Examples: Google Calendar, Notion, Todoist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Task tracking and reminders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Limitations: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learning intelligence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Manual task entry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AI or quantum optimization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65275" y="194945"/>
            <a:ext cx="9061450" cy="637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38505" y="1002665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Hybrid Learning Systems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BYJU’S, Unacademy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Video-based lessons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Practice tests and assessments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Static learning schedules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AI or quantum optimization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37" y="441250"/>
            <a:ext cx="906162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5310" y="1035685"/>
            <a:ext cx="11703050" cy="6061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System Overview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40000"/>
              </a:lnSpc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60000"/>
              </a:lnSpc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6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next-generation intelligent learning platform that integrates: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Generative AI for personalized learning content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Quantum Computing for optimized scheduling and personalization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Multi-Agent Systems for intelligent coordination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Adaptive Learning based on cognitive load detection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 Core Modules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roadmap generation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content creation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learning (text, videos, quizzes)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detection using Quantum Kernel SVM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Planner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QAOA-based smart scheduling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Deadline-aware task prioritization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NLP-based automatic task extraction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reminders and alerts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37" y="441250"/>
            <a:ext cx="906162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03275" y="1035050"/>
            <a:ext cx="10714355" cy="5681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930275" y="1034415"/>
            <a:ext cx="10714355" cy="5808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03275" y="963295"/>
            <a:ext cx="10714355" cy="5899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Expected Outcomes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Quantum-optimized study schedules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AI-driven personalized learning paths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learning adaptation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Automated task and time management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 efficiency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Reduced study time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Better workload balance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support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10" y="180340"/>
            <a:ext cx="9061450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9475" y="1089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6475" y="1216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80110" y="718820"/>
            <a:ext cx="11369040" cy="6144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Requirements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 using email/password or OAuth providers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and manage multiple learning agents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(Student, Instructor, Admin)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learning roadmaps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 adaptive content based on learner performance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 multi-format content (text, video, quizzes)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 assessments with automated grading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Planning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extract tasks from multiple sources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 optimized daily and weekly schedules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Send intelligent reminders and notifications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Reporting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Track and visualize learning progress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 performance insights and recommendations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 downloadable reports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10" y="379095"/>
            <a:ext cx="906145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9475" y="1089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6475" y="749935"/>
            <a:ext cx="11115675" cy="6039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53110" y="1089660"/>
            <a:ext cx="11369040" cy="521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 Non-Functional Requirements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 up to 10,000 concurrent users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API response time under 500 ms for 95% of requests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Scheduli</a:t>
            </a:r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 optimization completed within 5 seconds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using TLS 1.3 and AES-256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GDPR and FERPA standards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Periodic security audits and testing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Horizontal scalability for increased load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Database replication and sharding support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Modular quantum components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Web and mobile application support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10" y="72390"/>
            <a:ext cx="906145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9475" y="1089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6475" y="1216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79475" y="529590"/>
            <a:ext cx="11242040" cy="638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 Technical Requirements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React 18+ with TypeScript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Redux Toolkit for state management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Material-UI for responsive design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Web App (PWA) support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Node.js 18+ with Express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Python 3.9+ for AI/ML services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Storage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MongoDB for document storage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 (e.g., S3)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/ ML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PyTorch for deep learning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for NLP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for classical ML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Qiskit and PennyLane frameworks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QAOA for scheduling optimization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Quantum SVM for classification tasks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37" y="441250"/>
            <a:ext cx="906162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9475" y="1089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6475" y="1216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7845" y="1089660"/>
            <a:ext cx="1111567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 Hardware Requirements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Minimum 16 GB RAM (32 GB recommended)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Multi-core processor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 GB free disk space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Kubernetes infrastructure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Access to quantum computing platforms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CDN and load balancers for scalability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5. Integration Requirements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services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Calendar integration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787610" y="5428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2475" y="171450"/>
            <a:ext cx="10696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1" y="815611"/>
            <a:ext cx="9639300" cy="5679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5325" y="815611"/>
            <a:ext cx="32480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787610" y="5428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988" y="1277498"/>
            <a:ext cx="3778898" cy="4751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maintains learner profiles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preferences and learning progress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user data with learning and scheduling 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Secures session handling and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e-mail verification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84158" y="1278288"/>
            <a:ext cx="3956186" cy="4751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 startAt="2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subject specific learning agents for each topic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learning paths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study materials like notes, quizzes and flash cards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multi-modal content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content based on progress and cognitive state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subject specific learning agents for each topic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33648" y="1272064"/>
            <a:ext cx="4055364" cy="4751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learner behaviour and performance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learners into mastery or struggling states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adaptive learning and scheduling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learner focus and engagement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796" y="251918"/>
            <a:ext cx="10739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51530" y="1278288"/>
            <a:ext cx="4049168" cy="4197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 startAt="4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AND DEADLINE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e-mails, extract tasks, deadlines, adds them to scheduler and notifies user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deadlines using date and time recognition techniques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priority and urgency levels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assignment submissions, tasks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98572" y="1286108"/>
            <a:ext cx="3993501" cy="4197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 startAt="5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both learning sessions and tasks into single scheduling space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the schedule to avoid overlaps between study sessions and tasks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best possible time slots based on availability and workload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7" y="1281395"/>
            <a:ext cx="3658463" cy="4197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ANALYTICS AND DASHBOARD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learner progress and performance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learning trends and completion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missed tasks and schedule deviations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learning progress and completion rate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796" y="251918"/>
            <a:ext cx="10739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9125" y="142875"/>
            <a:ext cx="1102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771525"/>
            <a:ext cx="11325225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multiple autonomous agents operate independently while coordinating through a central Meta-Agent.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used :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subject (OS, ML, DLD) is implemented as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learning agent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maintains: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roadmap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state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level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Meta-Agent aggregates outputs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all agents to build a global learner profile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it is used: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 Module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used: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personalization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interference between different subjects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efficiently when new subjects are added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9125" y="167328"/>
            <a:ext cx="1102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1371600"/>
            <a:ext cx="1132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18984" y="741401"/>
            <a:ext cx="1112056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Transformer-Based Learning Path Generation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sequence-generation algorithm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self-attention mechanisms.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subject name, timeframe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generates: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topic sequence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learning goals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progression (easy → medium → advanced)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captures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dependencies and prerequisites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 Module (Roadmap / Learning Path Generation)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topic dependencies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learning paths dynamically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and intelligent than rule-based planning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9125" y="183804"/>
            <a:ext cx="1102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1371600"/>
            <a:ext cx="1132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652334" y="792348"/>
            <a:ext cx="1112056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AutoNum type="arabicPeriod" startAt="3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Kernel Support Vector Machine (QSVM)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Machine Learning and Quantum Kernel SVM (QSVM) model used to classify learner cognitive load levels from behavioral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are collected: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spent on content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replays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failures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Pauses and skips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mapped to a high-dimensional space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feature mapping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QSVM classifies learner state as: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Detection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data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and non-linear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QSVM provides better separation than classical SVM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learner overload and burnout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9125" y="192042"/>
            <a:ext cx="1102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844377"/>
            <a:ext cx="113252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Natural Language Processing (NLP) pipeline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NLP-based pipeline that uses NER and temporal parsing to extract tasks and deadlines from unstructured text and convert them into structured scheduling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used 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messages are scanned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extracts entities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names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titles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tasks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parsing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phrases like: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“next Friday”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“by 5 PM”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exact timestamps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Deadline Extraction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messages are unstructured text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task and deadline extraction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task entry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9125" y="126138"/>
            <a:ext cx="1102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745521"/>
            <a:ext cx="11325225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Quantum Approximate Optimization Algorithm (QAOA)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quantum-classical optimization algorithm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combinatorial optimization problems.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sessions and extracted tasks are encoded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scheduling variables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include: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overlap between learning and tasks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satisfaction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balance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QAOA minimizes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Hamiltonian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an optimal schedule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Module (Scheduler)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with multiple constraints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NP-hard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QAOA efficiently finds near-optimal schedules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better than greedy or brute-force methods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27222" y="189470"/>
            <a:ext cx="11154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>
            <a:grpSpLocks noGrp="1" noRot="1" noChangeAspect="1" noMove="1" noResize="1" noUngrp="1"/>
          </p:cNvGrpSpPr>
          <p:nvPr/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27222" y="189470"/>
            <a:ext cx="111540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37" y="4412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3376" y="1282337"/>
            <a:ext cx="103542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planning for higher education based on deep generative models and quantum machine learning: a multimodal learning analysis method integrating transformer, adversarial training and quantum state classification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Changzhi Sun, Shijie Huang, Banghui Sun, Shiwei Chu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Year: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 Nature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Simulated multimodal education datasets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with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training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adaptive learning content generation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State Classification for detecting cognitive states of students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3955" y="4605181"/>
            <a:ext cx="4639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multimodal, adaptive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cognitive state detection with quantum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05609" y="4734844"/>
            <a:ext cx="4032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8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 rot="10800000">
            <a:off x="9058275" y="4146314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67537" y="441250"/>
            <a:ext cx="906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102" y="1000657"/>
            <a:ext cx="107422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quantum approximate optimization algorithm to job shop scheduling 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Krzysztof Kurowski, Tomasz Pecyna, Mateusz Slysz, Rafał Różycki, Grzegorz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Waligóra, Ja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Węglarz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Year: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scheduling datasets (Job-Shop Scheduling, Max-Cut)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Approximate Optimization Algorithm (QAOA)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Constraint Solvers for baseline 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102" y="4032738"/>
            <a:ext cx="51503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scheduling efficiency for specific tasks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use of quantum-classical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99383" y="3997568"/>
            <a:ext cx="4911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quantum simulation or hardware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16208</Words>
  <Application>WPS Presentation</Application>
  <PresentationFormat>Widescreen</PresentationFormat>
  <Paragraphs>531</Paragraphs>
  <Slides>25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Aptos</vt:lpstr>
      <vt:lpstr>Segoe UI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</dc:creator>
  <cp:lastModifiedBy>Relli Gopikanjali</cp:lastModifiedBy>
  <cp:revision>86</cp:revision>
  <dcterms:created xsi:type="dcterms:W3CDTF">2020-12-05T07:02:00Z</dcterms:created>
  <dcterms:modified xsi:type="dcterms:W3CDTF">2026-01-04T16:22:08Z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EFCA7497857C41BBA8585B975EE19FBF_13</vt:lpwstr>
  </property>
  <property fmtid="{D5CDD505-2E9C-101B-9397-08002B2CF9AE}" pid="3" name="KSOProductBuildVer">
    <vt:lpwstr>1033-12.2.0.23196</vt:lpwstr>
  </property>
</Properties>
</file>