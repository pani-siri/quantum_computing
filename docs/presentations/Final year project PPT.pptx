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2" r:id="rId4"/>
    <p:sldId id="266" r:id="rId5"/>
    <p:sldId id="269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4FA6FF-61EE-4EF4-AA9D-2F8BF0053A71}">
          <p14:sldIdLst>
            <p14:sldId id="256"/>
            <p14:sldId id="261"/>
            <p14:sldId id="262"/>
          </p14:sldIdLst>
        </p14:section>
        <p14:section name="Untitled Section" id="{EA750C22-63B6-44BE-A266-A11F35DB46AA}">
          <p14:sldIdLst>
            <p14:sldId id="266"/>
            <p14:sldId id="269"/>
          </p14:sldIdLst>
        </p14:section>
        <p14:section name="Untitled Section" id="{2556AA5F-BDF4-4F7F-831F-28953C58829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995" autoAdjust="0"/>
    <p:restoredTop sz="94651" autoAdjust="0"/>
  </p:normalViewPr>
  <p:slideViewPr>
    <p:cSldViewPr snapToGrid="0">
      <p:cViewPr varScale="1">
        <p:scale>
          <a:sx n="85" d="100"/>
          <a:sy n="85" d="100"/>
        </p:scale>
        <p:origin x="-682" y="-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53877-EE88-4DAC-B93E-5FA7CE587E8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BF423-5F21-47B6-BEDF-798D05FE8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2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00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10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5B6DCA-6762-492A-98AC-BCDEE6224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D7A3684-3DBB-4A48-985D-9C95F6661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B4BA27-D480-466E-8FD0-64CA57427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8E2BBA-CCC7-467C-A0DB-19D0359C8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48F4DE-DDD7-45E7-AC0C-923D1B39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33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BF7115-1A84-4B17-87B9-643D9754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B25FC7-277D-4AE4-B931-9E69FCB14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BBF7EF6-424D-4C70-A8FC-16AA9334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F2C76D2-FDB5-49BF-8064-3E0FD36D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88B89FA-5697-41A2-AC6D-983A610C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206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957BF7-C718-4A5A-ABCD-118D20DCA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7051068-E33B-406B-86D6-546824EDC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DCEFF6-7DDC-4A7D-B900-3D38BB30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8868664-31D8-49DF-96D3-852F4E8AC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3E8873-E21B-4375-A940-C3A65A3AB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953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58BDEB-84ED-450F-AF44-8257AE650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3DBC0B-083F-44A2-8A09-02148601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FA135FC-323A-447D-8F86-F23A0C2AA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3EE6B24-8269-4CA7-8C82-43C9026D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4577B53-C640-44EB-9E3E-85A91AEA5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B1CE31F-68E4-4032-A408-54343F8D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73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3EB860-70E3-47EC-9B0B-CD16FDD5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8A9AB5B-B581-4510-89F1-723526116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EABC29-95B4-470D-B9D5-F26E42ED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DEA876B-EA92-4115-8C8B-CAD7C8510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8D04FDD-E361-4FFE-81BE-43E5C5F27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FEBBCB7-0E25-4746-97C7-16EAC9E7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2FDEB74-22DB-45CB-A9AD-E00408D8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5F823A1-9179-437A-9794-4B229F71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78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B9EAC4-CFD9-49A2-9234-63F32CC7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0D1511-A1BF-40BB-AA5E-DEF7F7173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A454A03-7D26-423A-8374-29584544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82523C6-8471-4822-A73C-BBF52739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136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B7E565F-A58D-4A56-9C0A-A7FECD449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496A56B-2AF2-4BEF-8601-39F3889D8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D416538-E515-4D63-9C7A-87062620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9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6D65DC-D292-48BD-8A81-8338433F5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9052C6-6C8C-45F2-98BB-2E1D5E40F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BB4905D-6930-4033-B30B-B809D7E8B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0853B4A-0C58-4CE0-AC0D-979E51D8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D39278F-9284-42B9-8D51-88EBD32E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A4182C-9EBF-422B-806E-D6276D61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08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6D8BBE-3B60-4953-B951-4A47FAD2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06AF981-F353-4FB4-A2D3-24B4DD625A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7EF0E16-EA10-4B44-9C19-00B04D6E7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699BD1F-4F4F-4812-83EB-FAC6F0C5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A58507D-7F47-47E7-9AC2-6B77CCF4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D3EE18F-6F4C-4AB5-8F00-35B86133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56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FED12C-CC51-4151-AFCE-299F0951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3EDD062-5162-45FC-9EBD-D9A82A665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024F1E-F195-40FF-8D76-7DE7E57C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387A50-38D2-454C-86A1-120BB4BE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468E8AB-1F66-4BE6-B20D-4083AE94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44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7005A2F-A764-4011-B34D-0E084CF0A3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71653D9-EDF6-484B-A5A3-5EBC665DB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B60F3C5-B932-4AEB-BFC6-3464F316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6664359-CC57-480D-9D38-CDEE9B60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54C1080-FEBB-4880-87B0-90BB2F03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894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2CE80F1-5A4A-4A67-B0D8-44F01BDDA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1EBF7C-6800-4A74-BB30-DA3119B49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90F734-4BAB-4F79-A23D-B022BE585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54923-DF6B-4C26-AF62-67B729080E7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62A8326-60E9-40B3-AB52-75B2F49D7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950D045-7D48-416C-BA98-97E3FB813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2C31C-3C18-4805-A54B-8D47535AEF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5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73A25D70-4A55-4F72-B9C5-A69CDBF4DB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4957100-6D8B-4161-9F2F-C0A949EC84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BD8B065-EE51-4AE2-A94C-86249998FD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18999293-B054-4B57-A26F-D04C2BB113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5E505D8A-F41A-450D-A648-E77DF6B8D8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E2BD6DCE-6A81-4F34-9958-67B578EA166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5C462BE8-CD72-48CF-8A7B-C716D2B99E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1C2CDB70-40F1-4D00-8F17-A532E732EB2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761945C4-D997-42F3-B59A-984CF00667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4651FE4A-9487-43BE-A388-134535743B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F44B0EF3-9992-4B95-8A43-6206B3FC3F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041B1C1F-C2FE-4C47-9D74-ADB9B53F4BF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1048177B-A49E-4E24-9007-07A0EDD6A2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xmlns="" id="{F70D2636-D02D-49C2-B6AC-FCA8D80874D1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5" t="13616" r="5165" b="3740"/>
          <a:stretch/>
        </p:blipFill>
        <p:spPr bwMode="auto">
          <a:xfrm>
            <a:off x="4988560" y="2640983"/>
            <a:ext cx="2017548" cy="15716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6403536-E5F7-4102-9C09-921532590F04}"/>
              </a:ext>
            </a:extLst>
          </p:cNvPr>
          <p:cNvSpPr txBox="1"/>
          <p:nvPr/>
        </p:nvSpPr>
        <p:spPr>
          <a:xfrm>
            <a:off x="685800" y="514095"/>
            <a:ext cx="11027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Scheduler: A Multimodal Approach Using Deep Generative Models and Quantum Optimization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00BB0B-6B85-4B29-BB78-78422C6EED9B}"/>
              </a:ext>
            </a:extLst>
          </p:cNvPr>
          <p:cNvSpPr txBox="1"/>
          <p:nvPr/>
        </p:nvSpPr>
        <p:spPr>
          <a:xfrm>
            <a:off x="3480051" y="1409985"/>
            <a:ext cx="5424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BATCH: C2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P.V.S. Lakshmi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Jagadamba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department.,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GVPCEW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9249757-2DEE-4651-A1F1-D9096B7AF1A3}"/>
              </a:ext>
            </a:extLst>
          </p:cNvPr>
          <p:cNvSpPr txBox="1"/>
          <p:nvPr/>
        </p:nvSpPr>
        <p:spPr>
          <a:xfrm>
            <a:off x="685799" y="4279882"/>
            <a:ext cx="1080829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Veera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Kalyani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Hema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Tayaru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Padala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(322103210169)                       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Teegireddy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Sujitha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(322103210158)                                                             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Relli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Gopikanjali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322103210132)                                                       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Siri (322103210182)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Department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Computer Science and Engineering</a:t>
            </a:r>
          </a:p>
          <a:p>
            <a:pPr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GAYATRI VIDYA PARISHAD COLLEGE OF ENGINEERING FOR WOMEN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88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73A25D70-4A55-4F72-B9C5-A69CDBF4DB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4957100-6D8B-4161-9F2F-C0A949EC84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BD8B065-EE51-4AE2-A94C-86249998FD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18999293-B054-4B57-A26F-D04C2BB113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5E505D8A-F41A-450D-A648-E77DF6B8D8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E2BD6DCE-6A81-4F34-9958-67B578EA166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5C462BE8-CD72-48CF-8A7B-C716D2B99E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1C2CDB70-40F1-4D00-8F17-A532E732EB2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761945C4-D997-42F3-B59A-984CF00667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4651FE4A-9487-43BE-A388-134535743B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F44B0EF3-9992-4B95-8A43-6206B3FC3F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041B1C1F-C2FE-4C47-9D74-ADB9B53F4BF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1048177B-A49E-4E24-9007-07A0EDD6A2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FBEFEFA-99A2-4BC0-8439-5F06043CEB2F}"/>
              </a:ext>
            </a:extLst>
          </p:cNvPr>
          <p:cNvSpPr txBox="1"/>
          <p:nvPr/>
        </p:nvSpPr>
        <p:spPr>
          <a:xfrm>
            <a:off x="616048" y="2139461"/>
            <a:ext cx="111121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educational systems struggle to address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cognitive states, diverse preferences, and workload demands, leading to limited personalization and inefficient scheduling. To overcome this, we propose a Personalized Learning Path Scheduler that integrates deep generative models, multimodal learning, transformers, adversarial training, and quantum optimization. The system employs a Learning Module for adaptive roadmaps, QSVMs for high-dimensional classification, and a Planner Module using NLP pipelines with QAOA-based constraint programming to generate efficient, balanced schedules, advancing scalable, intelligent, and privacy-aware personalized learning in higher education.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C5C6443-E53E-4156-A83E-EE93BA4AD408}"/>
              </a:ext>
            </a:extLst>
          </p:cNvPr>
          <p:cNvSpPr txBox="1"/>
          <p:nvPr/>
        </p:nvSpPr>
        <p:spPr>
          <a:xfrm>
            <a:off x="1589903" y="792242"/>
            <a:ext cx="932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ABSTRACT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818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73A25D70-4A55-4F72-B9C5-A69CDBF4DB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4957100-6D8B-4161-9F2F-C0A949EC84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BD8B065-EE51-4AE2-A94C-86249998FD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18999293-B054-4B57-A26F-D04C2BB113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5E505D8A-F41A-450D-A648-E77DF6B8D8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E2BD6DCE-6A81-4F34-9958-67B578EA166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5C462BE8-CD72-48CF-8A7B-C716D2B99E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1C2CDB70-40F1-4D00-8F17-A532E732EB2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761945C4-D997-42F3-B59A-984CF00667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4651FE4A-9487-43BE-A388-134535743B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F44B0EF3-9992-4B95-8A43-6206B3FC3F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041B1C1F-C2FE-4C47-9D74-ADB9B53F4BF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1048177B-A49E-4E24-9007-07A0EDD6A2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21703C1-6AB1-404A-B48F-9155C14732E6}"/>
              </a:ext>
            </a:extLst>
          </p:cNvPr>
          <p:cNvSpPr txBox="1"/>
          <p:nvPr/>
        </p:nvSpPr>
        <p:spPr>
          <a:xfrm>
            <a:off x="1738033" y="473221"/>
            <a:ext cx="8715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675" y="1486968"/>
            <a:ext cx="102891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 to manage studies, deadlines, and workload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are static, rigid, and lack personalization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Capabilities: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study plans by learning from text, video, audio,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focus, attention shifts, and stress to provide real-time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schedules integrating study, deadlines, and rest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Advantage: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provide dynamic, personalized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Natural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processing transforms tasks into structured study schedules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Quantum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(QSVM, QAOA) produces efficient and scalable timetables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ensures dynamic workload distribution and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optimization integrates classical and quantum methods for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Modern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with Flutter,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Firebase, and quantum frameworks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smarter, adaptive, and stress-free learning for students and professionals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83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73A25D70-4A55-4F72-B9C5-A69CDBF4DB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4957100-6D8B-4161-9F2F-C0A949EC84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BD8B065-EE51-4AE2-A94C-86249998FD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761945C4-D997-42F3-B59A-984CF00667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4651FE4A-9487-43BE-A388-134535743B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F44B0EF3-9992-4B95-8A43-6206B3FC3F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041B1C1F-C2FE-4C47-9D74-ADB9B53F4BF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1048177B-A49E-4E24-9007-07A0EDD6A2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3EA2DBC-91B9-4EA1-B3EB-4D88A2347983}"/>
              </a:ext>
            </a:extLst>
          </p:cNvPr>
          <p:cNvSpPr txBox="1"/>
          <p:nvPr/>
        </p:nvSpPr>
        <p:spPr>
          <a:xfrm>
            <a:off x="1667537" y="441250"/>
            <a:ext cx="9061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5985" y="1021080"/>
            <a:ext cx="103403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</a:t>
            </a:r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-1: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Title: “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Path Planning for Higher Education based on Deep Generative Models and Quantum Machine Learning: A Multimodal Learning Analysis Method Integrating Transformer, Adversarial Training, and Quantum State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Springer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learner interaction data (high-dimensional educational datasets)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Methods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Generative Models &amp; Transformers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Training for robustness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Quantum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Classification (QSVM)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personalization of learning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classical &amp; quantum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data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 against noisy learner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IN" dirty="0" smtClean="0"/>
              <a:t> </a:t>
            </a: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7162800" y="4429245"/>
            <a:ext cx="4457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on quantum simulators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deployment validation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60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BD8B065-EE51-4AE2-A94C-86249998FD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39615" y="439615"/>
            <a:ext cx="112805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</a:t>
            </a: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Paper-2: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Quantum Approximate Optimization Algorithm to Job Shop Scheduling Problem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Elsevier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shop scheduling benchmark datasets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Tools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QAOA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(Quantum Approximate Optimization Algorithm)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handling of NP-hard scheduling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Quantum-classical hybrid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workload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hardware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sensitivity in quantum circuits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541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73A25D70-4A55-4F72-B9C5-A69CDBF4DB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4957100-6D8B-4161-9F2F-C0A949EC84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BD8B065-EE51-4AE2-A94C-86249998FD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18999293-B054-4B57-A26F-D04C2BB113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5E505D8A-F41A-450D-A648-E77DF6B8D8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E2BD6DCE-6A81-4F34-9958-67B578EA166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5C462BE8-CD72-48CF-8A7B-C716D2B99E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1C2CDB70-40F1-4D00-8F17-A532E732EB2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761945C4-D997-42F3-B59A-984CF00667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4651FE4A-9487-43BE-A388-134535743B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F44B0EF3-9992-4B95-8A43-6206B3FC3F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041B1C1F-C2FE-4C47-9D74-ADB9B53F4BF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1048177B-A49E-4E24-9007-07A0EDD6A2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3EA2DBC-91B9-4EA1-B3EB-4D88A2347983}"/>
              </a:ext>
            </a:extLst>
          </p:cNvPr>
          <p:cNvSpPr txBox="1"/>
          <p:nvPr/>
        </p:nvSpPr>
        <p:spPr>
          <a:xfrm>
            <a:off x="1787610" y="542850"/>
            <a:ext cx="9061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                          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144875"/>
              </p:ext>
            </p:extLst>
          </p:nvPr>
        </p:nvGraphicFramePr>
        <p:xfrm>
          <a:off x="1365428" y="916219"/>
          <a:ext cx="9701376" cy="5594033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702654"/>
                <a:gridCol w="2076628"/>
                <a:gridCol w="1367327"/>
                <a:gridCol w="1307507"/>
                <a:gridCol w="1307506"/>
                <a:gridCol w="1307507"/>
                <a:gridCol w="1632247"/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S. No</a:t>
                      </a:r>
                      <a:endParaRPr lang="en-I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Title &amp; Authors</a:t>
                      </a:r>
                      <a:endParaRPr lang="en-I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Published Journal and Year</a:t>
                      </a:r>
                      <a:endParaRPr lang="en-I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Dataset Used</a:t>
                      </a:r>
                      <a:endParaRPr lang="en-I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Approach</a:t>
                      </a:r>
                      <a:endParaRPr lang="en-I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Research on a personalized learning path recommendation system based on cognitive graph – Mu &amp; Yuan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Interactive Learning Environments, 2024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Synthetic &amp; educational cognitive graph datasets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Cognitive graph–based path planning and recommendation system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Improved adaptability of learning paths through cognitive graph representation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Requires large-scale validation; scalability not fully tested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Applying machine learning algorithm to optimize personalized education recommendation system – Chen et al.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Journal of Theory and Practice in Engineering Science, 2024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Educational recommendation datasets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Machine learning algorithms for optimization of recommendation systems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Demonstrated efficiency in optimizing personalized recommendations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Limited exploration of multimodal/quantum approaches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Deploying multimodal learning analytics models to explore the impact of digital distraction and peer learning on student performance – Liao &amp; Wu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Computers &amp; Education, 2022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Classroom datasets (discourse,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behavioral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, LMS logs)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Multimodal ML models to analyze distraction and peer influence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Enhanced prediction of student outcomes compared to unimodal models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Privacy concerns; integration of sensors/data remains challenging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Artificial intelligence in education: </a:t>
                      </a:r>
                      <a:r>
                        <a:rPr lang="en-IN" sz="1200" i="0" kern="100" dirty="0" err="1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AIEd</a:t>
                      </a: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for personalised learning pathways – </a:t>
                      </a:r>
                      <a:r>
                        <a:rPr lang="en-IN" sz="1200" i="0" kern="100" dirty="0" err="1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Apalova</a:t>
                      </a: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N" sz="1200" i="0" kern="100" dirty="0" err="1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Zhiyenbayeva</a:t>
                      </a:r>
                      <a:endParaRPr lang="en-IN" sz="1200" i="0" kern="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Electronic Journal of e-Learning, 2022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Conceptual &amp; applied case studies in education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AI-driven approaches for building personalized learning pathways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Highlighted importance of AI in learner-centric personalization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Lacks multimodal robustness and advanced optimization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Scaling of the Quantum Approximate Optimization Algorithm for </a:t>
                      </a:r>
                      <a:r>
                        <a:rPr lang="en-IN" sz="1200" i="0" kern="100" dirty="0" err="1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MaxCut</a:t>
                      </a: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on NISQ devices – </a:t>
                      </a:r>
                      <a:r>
                        <a:rPr lang="en-IN" sz="1200" i="0" kern="100" dirty="0" err="1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Weidenfeller</a:t>
                      </a: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Quantum, 2022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Synthetic &amp; benchmark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MaxCut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instances on IBM devices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Implemented QAOA with Qiskit Runtime to study scaling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Identified trade-offs between runtime, depth, and noise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Limited to small qubit counts; performance degrades with scale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691926" y="239282"/>
            <a:ext cx="6973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94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856</TotalTime>
  <Words>594</Words>
  <Application>Microsoft Office PowerPoint</Application>
  <PresentationFormat>Custom</PresentationFormat>
  <Paragraphs>112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</dc:creator>
  <cp:lastModifiedBy>SIRI PANI</cp:lastModifiedBy>
  <cp:revision>64</cp:revision>
  <dcterms:created xsi:type="dcterms:W3CDTF">2020-12-05T07:02:21Z</dcterms:created>
  <dcterms:modified xsi:type="dcterms:W3CDTF">2025-08-22T08:04:00Z</dcterms:modified>
</cp:coreProperties>
</file>